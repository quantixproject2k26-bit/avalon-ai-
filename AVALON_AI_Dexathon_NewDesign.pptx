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62c925d-7f8c-c687-a926-9c27edfe13f9}">
          <p14:sldIdLst>
            <p14:sldId id="256"/>
          </p14:sldIdLst>
        </p14:section>
        <p14:section name="Solution" id="{a8b90f9a-9395-65fe-16d2-8a71dc8776bd}">
          <p14:sldIdLst>
            <p14:sldId id="257"/>
          </p14:sldIdLst>
        </p14:section>
        <p14:section name="Technical" id="{c30eb616-4992-55a5-f9ce-fc1eb431c48e}">
          <p14:sldIdLst>
            <p14:sldId id="258"/>
          </p14:sldIdLst>
        </p14:section>
        <p14:section name="Feasibility" id="{f0210a82-1c82-dede-c933-eb25a16793d4}">
          <p14:sldIdLst>
            <p14:sldId id="259"/>
          </p14:sldIdLst>
        </p14:section>
        <p14:section name="Business" id="{f7acbc12-4e06-f0f2-5c6e-f04d1c61a76e}">
          <p14:sldIdLst>
            <p14:sldId id="260"/>
          </p14:sldIdLst>
        </p14:section>
        <p14:section name="Impact" id="{4af3e9c7-65bd-a3f8-02a7-813031dbaf53}">
          <p14:sldIdLst>
            <p14:sldId id="261"/>
          </p14:sldIdLst>
        </p14:section>
        <p14:section name="References" id="{082b7441-b730-5366-fc7b-c56e21f54776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HERO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quantixproject2k26-bit/Avalon-AI-.git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 pill"/>
          <p:cNvSpPr/>
          <p:nvPr/>
        </p:nvSpPr>
        <p:spPr>
          <a:xfrm>
            <a:off x="4727448" y="777240"/>
            <a:ext cx="2743200" cy="457200"/>
          </a:xfrm>
          <a:prstGeom prst="roundRect">
            <a:avLst>
              <a:gd name="adj" fmla="val 28000"/>
            </a:avLst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B1F2E"/>
                </a:solidFill>
              </a:rPr>
              <a:t>DEXATHON 2026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AVALON AI</a:t>
            </a:r>
            <a:endParaRPr lang="en-US" sz="7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788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4B8A6"/>
                </a:solidFill>
              </a:rPr>
              <a:t>The Women's Empowerment Intelligence Network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42900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F4F1"/>
                </a:solidFill>
              </a:rPr>
              <a:t>Empowering choices. Connecting opportunities. Supporting independence.</a:t>
            </a:r>
            <a:endParaRPr lang="en-US" sz="1800" dirty="0"/>
          </a:p>
        </p:txBody>
      </p:sp>
      <p:sp>
        <p:nvSpPr>
          <p:cNvPr id="7" name="Info card"/>
          <p:cNvSpPr/>
          <p:nvPr/>
        </p:nvSpPr>
        <p:spPr>
          <a:xfrm>
            <a:off x="548640" y="4297680"/>
            <a:ext cx="265176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" name="Icon badge"/>
          <p:cNvSpPr/>
          <p:nvPr/>
        </p:nvSpPr>
        <p:spPr>
          <a:xfrm>
            <a:off x="731520" y="45262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9" name="Image 0" descr="TEAM NA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7320" y="45262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1C9"/>
                </a:solidFill>
              </a:rPr>
              <a:t>TEAM NAME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47731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QUANTIX</a:t>
            </a:r>
            <a:endParaRPr lang="en-US" sz="1500" dirty="0"/>
          </a:p>
        </p:txBody>
      </p:sp>
      <p:sp>
        <p:nvSpPr>
          <p:cNvPr id="12" name="Info card"/>
          <p:cNvSpPr/>
          <p:nvPr/>
        </p:nvSpPr>
        <p:spPr>
          <a:xfrm>
            <a:off x="3346704" y="4297680"/>
            <a:ext cx="265176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Icon badge"/>
          <p:cNvSpPr/>
          <p:nvPr/>
        </p:nvSpPr>
        <p:spPr>
          <a:xfrm>
            <a:off x="3529584" y="4526280"/>
            <a:ext cx="548640" cy="5486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4" name="Image 1" descr="THE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466344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215384" y="45262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1C9"/>
                </a:solidFill>
              </a:rPr>
              <a:t>THEME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215384" y="47731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Women Empowerment</a:t>
            </a:r>
            <a:endParaRPr lang="en-US" sz="1500" dirty="0"/>
          </a:p>
        </p:txBody>
      </p:sp>
      <p:sp>
        <p:nvSpPr>
          <p:cNvPr id="17" name="Info card"/>
          <p:cNvSpPr/>
          <p:nvPr/>
        </p:nvSpPr>
        <p:spPr>
          <a:xfrm>
            <a:off x="6144768" y="4297680"/>
            <a:ext cx="265176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Icon badge"/>
          <p:cNvSpPr/>
          <p:nvPr/>
        </p:nvSpPr>
        <p:spPr>
          <a:xfrm>
            <a:off x="6327648" y="4526280"/>
            <a:ext cx="548640" cy="54864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pic>
        <p:nvPicPr>
          <p:cNvPr id="19" name="Image 2" descr="PS CATEG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46634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013448" y="45262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1C9"/>
                </a:solidFill>
              </a:rPr>
              <a:t>PS CATEGORY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7013448" y="47731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Software</a:t>
            </a:r>
            <a:endParaRPr lang="en-US" sz="1500" dirty="0"/>
          </a:p>
        </p:txBody>
      </p:sp>
      <p:sp>
        <p:nvSpPr>
          <p:cNvPr id="22" name="Info card"/>
          <p:cNvSpPr/>
          <p:nvPr/>
        </p:nvSpPr>
        <p:spPr>
          <a:xfrm>
            <a:off x="8942832" y="4297680"/>
            <a:ext cx="265176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3" name="Icon badge"/>
          <p:cNvSpPr/>
          <p:nvPr/>
        </p:nvSpPr>
        <p:spPr>
          <a:xfrm>
            <a:off x="9125712" y="4526280"/>
            <a:ext cx="548640" cy="54864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24" name="Image 3" descr="TEAM I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872" y="46634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811512" y="45262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1C9"/>
                </a:solidFill>
              </a:rPr>
              <a:t>TEAM ID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9811512" y="47731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DEX26180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914400" y="57150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</a:rPr>
              <a:t>Stronger Women  &gt;  Stronger Families  &gt;  A Stronger Society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</a:rPr>
              <a:t>6 barriers, 1 platform.  </a:t>
            </a:r>
            <a:pPr indent="0" marL="0">
              <a:buNone/>
            </a:pPr>
            <a:r>
              <a:rPr lang="en-US" sz="1600" dirty="0">
                <a:solidFill>
                  <a:srgbClr val="E6F4F1"/>
                </a:solidFill>
              </a:rPr>
              <a:t>Money, careers, health, rights, digital safety and opportunities are scattered today.</a:t>
            </a:r>
            <a:endParaRPr lang="en-US" sz="1600" dirty="0"/>
          </a:p>
        </p:txBody>
      </p:sp>
      <p:sp>
        <p:nvSpPr>
          <p:cNvPr id="4" name="Summary card"/>
          <p:cNvSpPr/>
          <p:nvPr/>
        </p:nvSpPr>
        <p:spPr>
          <a:xfrm>
            <a:off x="548640" y="173736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" name="Icon badge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6" name="Image 0" descr="THE SOLU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007108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984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6B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688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4F1"/>
                </a:solidFill>
              </a:rPr>
              <a:t>One AI-powered platform that connects a woman's goals, skills and challenges with the right resources and support.</a:t>
            </a:r>
            <a:endParaRPr lang="en-US" sz="1300" dirty="0"/>
          </a:p>
        </p:txBody>
      </p:sp>
      <p:sp>
        <p:nvSpPr>
          <p:cNvPr id="9" name="Summary card"/>
          <p:cNvSpPr/>
          <p:nvPr/>
        </p:nvSpPr>
        <p:spPr>
          <a:xfrm>
            <a:off x="4297680" y="173736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Icon badge"/>
          <p:cNvSpPr/>
          <p:nvPr/>
        </p:nvSpPr>
        <p:spPr>
          <a:xfrm>
            <a:off x="4526280" y="189280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mage 1" descr="HOW IT SOLVES 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80" y="200710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984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</a:rPr>
              <a:t>HOW IT SOLVES IT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4688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4F1"/>
                </a:solidFill>
              </a:rPr>
              <a:t>The Pathway Engine understands goals, finds verified resources, builds an action plan and tracks progress.</a:t>
            </a:r>
            <a:endParaRPr lang="en-US" sz="1300" dirty="0"/>
          </a:p>
        </p:txBody>
      </p:sp>
      <p:sp>
        <p:nvSpPr>
          <p:cNvPr id="14" name="Summary card"/>
          <p:cNvSpPr/>
          <p:nvPr/>
        </p:nvSpPr>
        <p:spPr>
          <a:xfrm>
            <a:off x="8046720" y="173736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Icon badge"/>
          <p:cNvSpPr/>
          <p:nvPr/>
        </p:nvSpPr>
        <p:spPr>
          <a:xfrm>
            <a:off x="8275320" y="1892808"/>
            <a:ext cx="457200" cy="45720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pic>
        <p:nvPicPr>
          <p:cNvPr id="16" name="Image 2" descr="WHAT IS UNI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620" y="200710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15400" y="1984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</a:rPr>
              <a:t>WHAT IS UNIQUE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4688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4F1"/>
                </a:solidFill>
              </a:rPr>
              <a:t>6 connected modules, not isolated tools. Verified sources. Tamil + English. Action plans, not just information.</a:t>
            </a:r>
            <a:endParaRPr lang="en-US" sz="1300" dirty="0"/>
          </a:p>
        </p:txBody>
      </p:sp>
      <p:sp>
        <p:nvSpPr>
          <p:cNvPr id="19" name="Module card"/>
          <p:cNvSpPr/>
          <p:nvPr/>
        </p:nvSpPr>
        <p:spPr>
          <a:xfrm>
            <a:off x="548640" y="3566160"/>
            <a:ext cx="3566160" cy="1234440"/>
          </a:xfrm>
          <a:prstGeom prst="roundRect">
            <a:avLst>
              <a:gd name="adj" fmla="val 1037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0" name="Icon badge"/>
          <p:cNvSpPr/>
          <p:nvPr/>
        </p:nvSpPr>
        <p:spPr>
          <a:xfrm>
            <a:off x="777240" y="3749040"/>
            <a:ext cx="548640" cy="5486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1" name="Image 3" descr="Financial Freedom A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862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3749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Financial Freedom AI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389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C1C9"/>
                </a:solidFill>
              </a:rPr>
              <a:t>Budgeting, income ideas, loan and fraud alerts</a:t>
            </a:r>
            <a:endParaRPr lang="en-US" sz="1250" dirty="0"/>
          </a:p>
        </p:txBody>
      </p:sp>
      <p:sp>
        <p:nvSpPr>
          <p:cNvPr id="24" name="Module card"/>
          <p:cNvSpPr/>
          <p:nvPr/>
        </p:nvSpPr>
        <p:spPr>
          <a:xfrm>
            <a:off x="4297680" y="3566160"/>
            <a:ext cx="3566160" cy="1234440"/>
          </a:xfrm>
          <a:prstGeom prst="roundRect">
            <a:avLst>
              <a:gd name="adj" fmla="val 1037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5" name="Icon badge"/>
          <p:cNvSpPr/>
          <p:nvPr/>
        </p:nvSpPr>
        <p:spPr>
          <a:xfrm>
            <a:off x="4526280" y="3749040"/>
            <a:ext cx="548640" cy="54864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26" name="Image 4" descr="Career &amp; Education A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88620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57800" y="3749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Career &amp; Education AI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389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C1C9"/>
                </a:solidFill>
              </a:rPr>
              <a:t>Skill gaps, courses and a career path</a:t>
            </a:r>
            <a:endParaRPr lang="en-US" sz="1250" dirty="0"/>
          </a:p>
        </p:txBody>
      </p:sp>
      <p:sp>
        <p:nvSpPr>
          <p:cNvPr id="29" name="Module card"/>
          <p:cNvSpPr/>
          <p:nvPr/>
        </p:nvSpPr>
        <p:spPr>
          <a:xfrm>
            <a:off x="8046720" y="3566160"/>
            <a:ext cx="3566160" cy="1234440"/>
          </a:xfrm>
          <a:prstGeom prst="roundRect">
            <a:avLst>
              <a:gd name="adj" fmla="val 1037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0" name="Icon badge"/>
          <p:cNvSpPr/>
          <p:nvPr/>
        </p:nvSpPr>
        <p:spPr>
          <a:xfrm>
            <a:off x="8275320" y="374904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1" name="Image 5" descr="Health Access A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38862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06840" y="3749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Health Access AI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4389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C1C9"/>
                </a:solidFill>
              </a:rPr>
              <a:t>Plain-language health info, nearby care</a:t>
            </a:r>
            <a:endParaRPr lang="en-US" sz="1250" dirty="0"/>
          </a:p>
        </p:txBody>
      </p:sp>
      <p:sp>
        <p:nvSpPr>
          <p:cNvPr id="34" name="Module card"/>
          <p:cNvSpPr/>
          <p:nvPr/>
        </p:nvSpPr>
        <p:spPr>
          <a:xfrm>
            <a:off x="548640" y="4937760"/>
            <a:ext cx="3566160" cy="1234440"/>
          </a:xfrm>
          <a:prstGeom prst="roundRect">
            <a:avLst>
              <a:gd name="adj" fmla="val 1037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5" name="Icon badge"/>
          <p:cNvSpPr/>
          <p:nvPr/>
        </p:nvSpPr>
        <p:spPr>
          <a:xfrm>
            <a:off x="777240" y="5120640"/>
            <a:ext cx="548640" cy="548640"/>
          </a:xfrm>
          <a:prstGeom prst="ellipse">
            <a:avLst/>
          </a:prstGeom>
          <a:solidFill>
            <a:srgbClr val="8B7CF6"/>
          </a:solidFill>
          <a:ln w="12700">
            <a:solidFill>
              <a:srgbClr val="8B7CF6"/>
            </a:solidFill>
            <a:prstDash val="solid"/>
          </a:ln>
        </p:spPr>
      </p:sp>
      <p:pic>
        <p:nvPicPr>
          <p:cNvPr id="36" name="Image 6" descr="Rights &amp; Equality AI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25780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508760" y="5120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Rights &amp; Equality AI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777240" y="57607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C1C9"/>
                </a:solidFill>
              </a:rPr>
              <a:t>Schemes, legal aid, simple explanations</a:t>
            </a:r>
            <a:endParaRPr lang="en-US" sz="1250" dirty="0"/>
          </a:p>
        </p:txBody>
      </p:sp>
      <p:sp>
        <p:nvSpPr>
          <p:cNvPr id="39" name="Module card"/>
          <p:cNvSpPr/>
          <p:nvPr/>
        </p:nvSpPr>
        <p:spPr>
          <a:xfrm>
            <a:off x="4297680" y="4937760"/>
            <a:ext cx="3566160" cy="1234440"/>
          </a:xfrm>
          <a:prstGeom prst="roundRect">
            <a:avLst>
              <a:gd name="adj" fmla="val 1037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0" name="Icon badge"/>
          <p:cNvSpPr/>
          <p:nvPr/>
        </p:nvSpPr>
        <p:spPr>
          <a:xfrm>
            <a:off x="4526280" y="5120640"/>
            <a:ext cx="548640" cy="54864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pic>
        <p:nvPicPr>
          <p:cNvPr id="41" name="Image 7" descr="Digital Protection AI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5257800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257800" y="5120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Digital Protection AI</a:t>
            </a:r>
            <a:endParaRPr lang="en-US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4526280" y="57607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C1C9"/>
                </a:solidFill>
              </a:rPr>
              <a:t>Scam checks, safety tips, alerts</a:t>
            </a:r>
            <a:endParaRPr lang="en-US" sz="1250" dirty="0"/>
          </a:p>
        </p:txBody>
      </p:sp>
      <p:sp>
        <p:nvSpPr>
          <p:cNvPr id="44" name="Module card"/>
          <p:cNvSpPr/>
          <p:nvPr/>
        </p:nvSpPr>
        <p:spPr>
          <a:xfrm>
            <a:off x="8046720" y="4937760"/>
            <a:ext cx="3566160" cy="1234440"/>
          </a:xfrm>
          <a:prstGeom prst="roundRect">
            <a:avLst>
              <a:gd name="adj" fmla="val 1037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5" name="Icon badge"/>
          <p:cNvSpPr/>
          <p:nvPr/>
        </p:nvSpPr>
        <p:spPr>
          <a:xfrm>
            <a:off x="8275320" y="5120640"/>
            <a:ext cx="548640" cy="5486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46" name="Image 8" descr="Opportunity Connecto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0" y="5257800"/>
            <a:ext cx="274320" cy="27432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9006840" y="5120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Opportunity Connector</a:t>
            </a:r>
            <a:endParaRPr lang="en-US" sz="1500" dirty="0"/>
          </a:p>
        </p:txBody>
      </p:sp>
      <p:sp>
        <p:nvSpPr>
          <p:cNvPr id="48" name="Text 37"/>
          <p:cNvSpPr txBox="1"/>
          <p:nvPr/>
        </p:nvSpPr>
        <p:spPr>
          <a:xfrm>
            <a:off x="8275320" y="57607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C1C9"/>
                </a:solidFill>
              </a:rPr>
              <a:t>Scholarships, jobs, verified support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C857"/>
                </a:solidFill>
              </a:rPr>
              <a:t>Powered by AI. Guided by data. Built for you.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</a:rPr>
              <a:t>SYSTEM FLOW</a:t>
            </a:r>
            <a:endParaRPr lang="en-US" sz="1200" dirty="0"/>
          </a:p>
        </p:txBody>
      </p:sp>
      <p:sp>
        <p:nvSpPr>
          <p:cNvPr id="5" name="Flowchart panel"/>
          <p:cNvSpPr/>
          <p:nvPr/>
        </p:nvSpPr>
        <p:spPr>
          <a:xfrm>
            <a:off x="548640" y="1965960"/>
            <a:ext cx="5330952" cy="4297680"/>
          </a:xfrm>
          <a:prstGeom prst="roundRect">
            <a:avLst>
              <a:gd name="adj" fmla="val 2979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Flow node"/>
          <p:cNvSpPr/>
          <p:nvPr/>
        </p:nvSpPr>
        <p:spPr>
          <a:xfrm>
            <a:off x="1097280" y="2194560"/>
            <a:ext cx="2651760" cy="502920"/>
          </a:xfrm>
          <a:prstGeom prst="parallelogram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2E"/>
                </a:solidFill>
              </a:rPr>
              <a:t>1. User input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F2E"/>
                </a:solidFill>
              </a:rPr>
              <a:t>Goals, needs, profile</a:t>
            </a:r>
            <a:endParaRPr lang="en-US" sz="1300" dirty="0"/>
          </a:p>
        </p:txBody>
      </p:sp>
      <p:sp>
        <p:nvSpPr>
          <p:cNvPr id="8" name="Flow arrow"/>
          <p:cNvSpPr/>
          <p:nvPr/>
        </p:nvSpPr>
        <p:spPr>
          <a:xfrm>
            <a:off x="2423160" y="2697480"/>
            <a:ext cx="0" cy="274320"/>
          </a:xfrm>
          <a:prstGeom prst="line">
            <a:avLst/>
          </a:prstGeom>
          <a:noFill/>
          <a:ln w="22225">
            <a:solidFill>
              <a:srgbClr val="CFE8EE"/>
            </a:solidFill>
            <a:prstDash val="solid"/>
            <a:tailEnd type="triangle"/>
          </a:ln>
        </p:spPr>
      </p:sp>
      <p:sp>
        <p:nvSpPr>
          <p:cNvPr id="9" name="Flow node"/>
          <p:cNvSpPr/>
          <p:nvPr/>
        </p:nvSpPr>
        <p:spPr>
          <a:xfrm>
            <a:off x="1097280" y="2971800"/>
            <a:ext cx="2651760" cy="502920"/>
          </a:xfrm>
          <a:prstGeom prst="round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2E"/>
                </a:solidFill>
              </a:rPr>
              <a:t>2. AI analysis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F2E"/>
                </a:solidFill>
              </a:rPr>
              <a:t>ML + NLP match</a:t>
            </a:r>
            <a:endParaRPr lang="en-US" sz="1300" dirty="0"/>
          </a:p>
        </p:txBody>
      </p:sp>
      <p:sp>
        <p:nvSpPr>
          <p:cNvPr id="11" name="Flow arrow"/>
          <p:cNvSpPr/>
          <p:nvPr/>
        </p:nvSpPr>
        <p:spPr>
          <a:xfrm>
            <a:off x="2423160" y="3474720"/>
            <a:ext cx="0" cy="274320"/>
          </a:xfrm>
          <a:prstGeom prst="line">
            <a:avLst/>
          </a:prstGeom>
          <a:noFill/>
          <a:ln w="22225">
            <a:solidFill>
              <a:srgbClr val="CFE8EE"/>
            </a:solidFill>
            <a:prstDash val="solid"/>
            <a:tailEnd type="triangle"/>
          </a:ln>
        </p:spPr>
      </p:sp>
      <p:sp>
        <p:nvSpPr>
          <p:cNvPr id="12" name="Flow node"/>
          <p:cNvSpPr/>
          <p:nvPr/>
        </p:nvSpPr>
        <p:spPr>
          <a:xfrm>
            <a:off x="1097280" y="3749040"/>
            <a:ext cx="2651760" cy="868680"/>
          </a:xfrm>
          <a:prstGeom prst="diamond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25880" y="3749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2E"/>
                </a:solidFill>
              </a:rPr>
              <a:t>Verified match found?</a:t>
            </a:r>
            <a:endParaRPr lang="en-US" sz="1300" dirty="0"/>
          </a:p>
        </p:txBody>
      </p:sp>
      <p:sp>
        <p:nvSpPr>
          <p:cNvPr id="14" name="Flow arrow"/>
          <p:cNvSpPr/>
          <p:nvPr/>
        </p:nvSpPr>
        <p:spPr>
          <a:xfrm>
            <a:off x="2423160" y="4617720"/>
            <a:ext cx="0" cy="274320"/>
          </a:xfrm>
          <a:prstGeom prst="line">
            <a:avLst/>
          </a:prstGeom>
          <a:noFill/>
          <a:ln w="22225">
            <a:solidFill>
              <a:srgbClr val="CFE8EE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514600" y="46360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Yes</a:t>
            </a:r>
            <a:endParaRPr lang="en-US" sz="1100" dirty="0"/>
          </a:p>
        </p:txBody>
      </p:sp>
      <p:sp>
        <p:nvSpPr>
          <p:cNvPr id="16" name="Flow node"/>
          <p:cNvSpPr/>
          <p:nvPr/>
        </p:nvSpPr>
        <p:spPr>
          <a:xfrm>
            <a:off x="1097280" y="4892040"/>
            <a:ext cx="2651760" cy="50292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25880" y="4892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2E"/>
                </a:solidFill>
              </a:rPr>
              <a:t>3. Recommend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F2E"/>
                </a:solidFill>
              </a:rPr>
              <a:t>Ranked resources</a:t>
            </a:r>
            <a:endParaRPr lang="en-US" sz="1300" dirty="0"/>
          </a:p>
        </p:txBody>
      </p:sp>
      <p:sp>
        <p:nvSpPr>
          <p:cNvPr id="18" name="Flow arrow"/>
          <p:cNvSpPr/>
          <p:nvPr/>
        </p:nvSpPr>
        <p:spPr>
          <a:xfrm>
            <a:off x="2423160" y="5394960"/>
            <a:ext cx="0" cy="274320"/>
          </a:xfrm>
          <a:prstGeom prst="line">
            <a:avLst/>
          </a:prstGeom>
          <a:noFill/>
          <a:ln w="22225">
            <a:solidFill>
              <a:srgbClr val="CFE8EE"/>
            </a:solidFill>
            <a:prstDash val="solid"/>
            <a:tailEnd type="triangle"/>
          </a:ln>
        </p:spPr>
      </p:sp>
      <p:sp>
        <p:nvSpPr>
          <p:cNvPr id="19" name="Flow node"/>
          <p:cNvSpPr/>
          <p:nvPr/>
        </p:nvSpPr>
        <p:spPr>
          <a:xfrm>
            <a:off x="1097280" y="5669280"/>
            <a:ext cx="2651760" cy="502920"/>
          </a:xfrm>
          <a:prstGeom prst="roundRect">
            <a:avLst/>
          </a:prstGeom>
          <a:solidFill>
            <a:srgbClr val="8B7CF6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25880" y="5669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4. Action plan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Links + tracking</a:t>
            </a:r>
            <a:endParaRPr lang="en-US" sz="1300" dirty="0"/>
          </a:p>
        </p:txBody>
      </p:sp>
      <p:sp>
        <p:nvSpPr>
          <p:cNvPr id="21" name="Flow arrow"/>
          <p:cNvSpPr/>
          <p:nvPr/>
        </p:nvSpPr>
        <p:spPr>
          <a:xfrm>
            <a:off x="3749040" y="4183380"/>
            <a:ext cx="685800" cy="0"/>
          </a:xfrm>
          <a:prstGeom prst="line">
            <a:avLst/>
          </a:prstGeom>
          <a:noFill/>
          <a:ln w="22225">
            <a:solidFill>
              <a:srgbClr val="CFE8EE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858768" y="3904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No</a:t>
            </a:r>
            <a:endParaRPr lang="en-US" sz="1100" dirty="0"/>
          </a:p>
        </p:txBody>
      </p:sp>
      <p:sp>
        <p:nvSpPr>
          <p:cNvPr id="23" name="Refine node"/>
          <p:cNvSpPr/>
          <p:nvPr/>
        </p:nvSpPr>
        <p:spPr>
          <a:xfrm>
            <a:off x="4434840" y="3931920"/>
            <a:ext cx="1234440" cy="502920"/>
          </a:xfrm>
          <a:prstGeom prst="roundRect">
            <a:avLst>
              <a:gd name="adj" fmla="val 2545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34840" y="3931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2E"/>
                </a:solidFill>
              </a:rPr>
              <a:t>Refine query</a:t>
            </a:r>
            <a:endParaRPr lang="en-US" sz="1200" dirty="0"/>
          </a:p>
        </p:txBody>
      </p:sp>
      <p:sp>
        <p:nvSpPr>
          <p:cNvPr id="25" name="Flow line"/>
          <p:cNvSpPr/>
          <p:nvPr/>
        </p:nvSpPr>
        <p:spPr>
          <a:xfrm>
            <a:off x="5052060" y="3223260"/>
            <a:ext cx="0" cy="708660"/>
          </a:xfrm>
          <a:prstGeom prst="line">
            <a:avLst/>
          </a:prstGeom>
          <a:noFill/>
          <a:ln w="22225">
            <a:solidFill>
              <a:srgbClr val="CFE8EE"/>
            </a:solidFill>
            <a:prstDash val="solid"/>
          </a:ln>
        </p:spPr>
      </p:sp>
      <p:sp>
        <p:nvSpPr>
          <p:cNvPr id="26" name="Flow arrow"/>
          <p:cNvSpPr/>
          <p:nvPr/>
        </p:nvSpPr>
        <p:spPr>
          <a:xfrm>
            <a:off x="3749040" y="3223260"/>
            <a:ext cx="1303020" cy="0"/>
          </a:xfrm>
          <a:prstGeom prst="line">
            <a:avLst/>
          </a:prstGeom>
          <a:noFill/>
          <a:ln w="22225">
            <a:solidFill>
              <a:srgbClr val="CFE8EE"/>
            </a:solidFill>
            <a:prstDash val="solid"/>
            <a:head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3093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</a:rPr>
              <a:t>TECH STACK</a:t>
            </a:r>
            <a:endParaRPr lang="en-US" sz="1200" dirty="0"/>
          </a:p>
        </p:txBody>
      </p:sp>
      <p:sp>
        <p:nvSpPr>
          <p:cNvPr id="28" name="Stack chip"/>
          <p:cNvSpPr/>
          <p:nvPr/>
        </p:nvSpPr>
        <p:spPr>
          <a:xfrm>
            <a:off x="6309360" y="1965960"/>
            <a:ext cx="1664208" cy="777240"/>
          </a:xfrm>
          <a:prstGeom prst="roundRect">
            <a:avLst>
              <a:gd name="adj" fmla="val 16471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9" name="Chip dot"/>
          <p:cNvSpPr/>
          <p:nvPr/>
        </p:nvSpPr>
        <p:spPr>
          <a:xfrm>
            <a:off x="6446520" y="2139696"/>
            <a:ext cx="146304" cy="14630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2048256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Python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23774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C9"/>
                </a:solidFill>
              </a:rPr>
              <a:t>Backend</a:t>
            </a:r>
            <a:endParaRPr lang="en-US" sz="1200" dirty="0"/>
          </a:p>
        </p:txBody>
      </p:sp>
      <p:sp>
        <p:nvSpPr>
          <p:cNvPr id="32" name="Stack chip"/>
          <p:cNvSpPr/>
          <p:nvPr/>
        </p:nvSpPr>
        <p:spPr>
          <a:xfrm>
            <a:off x="8142732" y="1965960"/>
            <a:ext cx="1664208" cy="777240"/>
          </a:xfrm>
          <a:prstGeom prst="roundRect">
            <a:avLst>
              <a:gd name="adj" fmla="val 16471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3" name="Chip dot"/>
          <p:cNvSpPr/>
          <p:nvPr/>
        </p:nvSpPr>
        <p:spPr>
          <a:xfrm>
            <a:off x="8279892" y="2139696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08492" y="2048256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Streamlit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508492" y="23774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C9"/>
                </a:solidFill>
              </a:rPr>
              <a:t>Frontend</a:t>
            </a:r>
            <a:endParaRPr lang="en-US" sz="1200" dirty="0"/>
          </a:p>
        </p:txBody>
      </p:sp>
      <p:sp>
        <p:nvSpPr>
          <p:cNvPr id="36" name="Stack chip"/>
          <p:cNvSpPr/>
          <p:nvPr/>
        </p:nvSpPr>
        <p:spPr>
          <a:xfrm>
            <a:off x="9976104" y="1965960"/>
            <a:ext cx="1664208" cy="777240"/>
          </a:xfrm>
          <a:prstGeom prst="roundRect">
            <a:avLst>
              <a:gd name="adj" fmla="val 16471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7" name="Chip dot"/>
          <p:cNvSpPr/>
          <p:nvPr/>
        </p:nvSpPr>
        <p:spPr>
          <a:xfrm>
            <a:off x="10113264" y="2139696"/>
            <a:ext cx="146304" cy="146304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341864" y="2048256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Scikit-learn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0341864" y="23774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C9"/>
                </a:solidFill>
              </a:rPr>
              <a:t>ML models</a:t>
            </a:r>
            <a:endParaRPr lang="en-US" sz="1200" dirty="0"/>
          </a:p>
        </p:txBody>
      </p:sp>
      <p:sp>
        <p:nvSpPr>
          <p:cNvPr id="40" name="Stack chip"/>
          <p:cNvSpPr/>
          <p:nvPr/>
        </p:nvSpPr>
        <p:spPr>
          <a:xfrm>
            <a:off x="6309360" y="2926080"/>
            <a:ext cx="1664208" cy="777240"/>
          </a:xfrm>
          <a:prstGeom prst="roundRect">
            <a:avLst>
              <a:gd name="adj" fmla="val 16471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1" name="Chip dot"/>
          <p:cNvSpPr/>
          <p:nvPr/>
        </p:nvSpPr>
        <p:spPr>
          <a:xfrm>
            <a:off x="6446520" y="3099816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675120" y="3008376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Pandas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675120" y="33375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C9"/>
                </a:solidFill>
              </a:rPr>
              <a:t>Data analysis</a:t>
            </a:r>
            <a:endParaRPr lang="en-US" sz="1200" dirty="0"/>
          </a:p>
        </p:txBody>
      </p:sp>
      <p:sp>
        <p:nvSpPr>
          <p:cNvPr id="44" name="Stack chip"/>
          <p:cNvSpPr/>
          <p:nvPr/>
        </p:nvSpPr>
        <p:spPr>
          <a:xfrm>
            <a:off x="8142732" y="2926080"/>
            <a:ext cx="1664208" cy="777240"/>
          </a:xfrm>
          <a:prstGeom prst="roundRect">
            <a:avLst>
              <a:gd name="adj" fmla="val 16471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5" name="Chip dot"/>
          <p:cNvSpPr/>
          <p:nvPr/>
        </p:nvSpPr>
        <p:spPr>
          <a:xfrm>
            <a:off x="8279892" y="3099816"/>
            <a:ext cx="146304" cy="146304"/>
          </a:xfrm>
          <a:prstGeom prst="ellipse">
            <a:avLst/>
          </a:prstGeom>
          <a:solidFill>
            <a:srgbClr val="8B7CF6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508492" y="3008376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8508492" y="33375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C9"/>
                </a:solidFill>
              </a:rPr>
              <a:t>Database</a:t>
            </a:r>
            <a:endParaRPr lang="en-US" sz="1200" dirty="0"/>
          </a:p>
        </p:txBody>
      </p:sp>
      <p:sp>
        <p:nvSpPr>
          <p:cNvPr id="48" name="Stack chip"/>
          <p:cNvSpPr/>
          <p:nvPr/>
        </p:nvSpPr>
        <p:spPr>
          <a:xfrm>
            <a:off x="9976104" y="2926080"/>
            <a:ext cx="1664208" cy="777240"/>
          </a:xfrm>
          <a:prstGeom prst="roundRect">
            <a:avLst>
              <a:gd name="adj" fmla="val 16471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9" name="Chip dot"/>
          <p:cNvSpPr/>
          <p:nvPr/>
        </p:nvSpPr>
        <p:spPr>
          <a:xfrm>
            <a:off x="10113264" y="3099816"/>
            <a:ext cx="146304" cy="14630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341864" y="3008376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10341864" y="33375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C9"/>
                </a:solidFill>
              </a:rPr>
              <a:t>Versioning</a:t>
            </a:r>
            <a:endParaRPr lang="en-US" sz="1200" dirty="0"/>
          </a:p>
        </p:txBody>
      </p:sp>
      <p:sp>
        <p:nvSpPr>
          <p:cNvPr id="52" name="AI features card"/>
          <p:cNvSpPr/>
          <p:nvPr/>
        </p:nvSpPr>
        <p:spPr>
          <a:xfrm>
            <a:off x="6309360" y="4023360"/>
            <a:ext cx="5330952" cy="2240280"/>
          </a:xfrm>
          <a:prstGeom prst="roundRect">
            <a:avLst>
              <a:gd name="adj" fmla="val 5714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629400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</a:rPr>
              <a:t>AI / ML FEATURES</a:t>
            </a:r>
            <a:endParaRPr lang="en-US" sz="1200" dirty="0"/>
          </a:p>
        </p:txBody>
      </p:sp>
      <p:sp>
        <p:nvSpPr>
          <p:cNvPr id="54" name="Icon badge"/>
          <p:cNvSpPr/>
          <p:nvPr/>
        </p:nvSpPr>
        <p:spPr>
          <a:xfrm>
            <a:off x="6629400" y="4572000"/>
            <a:ext cx="292608" cy="29260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55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4645152"/>
            <a:ext cx="146304" cy="146304"/>
          </a:xfrm>
          <a:prstGeom prst="rect">
            <a:avLst/>
          </a:prstGeom>
        </p:spPr>
      </p:pic>
      <p:sp>
        <p:nvSpPr>
          <p:cNvPr id="56" name="Text 53"/>
          <p:cNvSpPr txBox="1"/>
          <p:nvPr/>
        </p:nvSpPr>
        <p:spPr>
          <a:xfrm>
            <a:off x="7086600" y="45720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Personalised recommendations</a:t>
            </a:r>
            <a:endParaRPr lang="en-US" sz="1500" dirty="0"/>
          </a:p>
        </p:txBody>
      </p:sp>
      <p:sp>
        <p:nvSpPr>
          <p:cNvPr id="57" name="Icon badge"/>
          <p:cNvSpPr/>
          <p:nvPr/>
        </p:nvSpPr>
        <p:spPr>
          <a:xfrm>
            <a:off x="6629400" y="4974336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8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5047488"/>
            <a:ext cx="146304" cy="146304"/>
          </a:xfrm>
          <a:prstGeom prst="rect">
            <a:avLst/>
          </a:prstGeom>
        </p:spPr>
      </p:pic>
      <p:sp>
        <p:nvSpPr>
          <p:cNvPr id="59" name="Text 55"/>
          <p:cNvSpPr txBox="1"/>
          <p:nvPr/>
        </p:nvSpPr>
        <p:spPr>
          <a:xfrm>
            <a:off x="7086600" y="497433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Scam text classification</a:t>
            </a:r>
            <a:endParaRPr lang="en-US" sz="1500" dirty="0"/>
          </a:p>
        </p:txBody>
      </p:sp>
      <p:sp>
        <p:nvSpPr>
          <p:cNvPr id="60" name="Icon badge"/>
          <p:cNvSpPr/>
          <p:nvPr/>
        </p:nvSpPr>
        <p:spPr>
          <a:xfrm>
            <a:off x="6629400" y="5376672"/>
            <a:ext cx="292608" cy="29260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pic>
        <p:nvPicPr>
          <p:cNvPr id="61" name="Image 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5449824"/>
            <a:ext cx="146304" cy="146304"/>
          </a:xfrm>
          <a:prstGeom prst="rect">
            <a:avLst/>
          </a:prstGeom>
        </p:spPr>
      </p:pic>
      <p:sp>
        <p:nvSpPr>
          <p:cNvPr id="62" name="Text 57"/>
          <p:cNvSpPr txBox="1"/>
          <p:nvPr/>
        </p:nvSpPr>
        <p:spPr>
          <a:xfrm>
            <a:off x="7086600" y="53766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Health + legal summaries</a:t>
            </a:r>
            <a:endParaRPr lang="en-US" sz="1500" dirty="0"/>
          </a:p>
        </p:txBody>
      </p:sp>
      <p:sp>
        <p:nvSpPr>
          <p:cNvPr id="63" name="Icon badge"/>
          <p:cNvSpPr/>
          <p:nvPr/>
        </p:nvSpPr>
        <p:spPr>
          <a:xfrm>
            <a:off x="6629400" y="5779008"/>
            <a:ext cx="292608" cy="29260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64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5852160"/>
            <a:ext cx="146304" cy="146304"/>
          </a:xfrm>
          <a:prstGeom prst="rect">
            <a:avLst/>
          </a:prstGeom>
        </p:spPr>
      </p:pic>
      <p:sp>
        <p:nvSpPr>
          <p:cNvPr id="65" name="Text 59"/>
          <p:cNvSpPr txBox="1"/>
          <p:nvPr/>
        </p:nvSpPr>
        <p:spPr>
          <a:xfrm>
            <a:off x="7086600" y="57790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Semantic opportunity search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Feasibility and Viability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C857"/>
                </a:solidFill>
              </a:rPr>
              <a:t>Simple tools + smart logic = real impact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</a:rPr>
              <a:t>FEASIBILITY</a:t>
            </a:r>
            <a:endParaRPr lang="en-US" sz="1200" dirty="0"/>
          </a:p>
        </p:txBody>
      </p:sp>
      <p:sp>
        <p:nvSpPr>
          <p:cNvPr id="5" name="Feasibility card"/>
          <p:cNvSpPr/>
          <p:nvPr/>
        </p:nvSpPr>
        <p:spPr>
          <a:xfrm>
            <a:off x="548640" y="1965960"/>
            <a:ext cx="2651760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Icon badge"/>
          <p:cNvSpPr/>
          <p:nvPr/>
        </p:nvSpPr>
        <p:spPr>
          <a:xfrm>
            <a:off x="731520" y="214884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7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251710"/>
            <a:ext cx="205740" cy="2057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96596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Open-source stack: Python, Streamlit, Scikit-learn</a:t>
            </a:r>
            <a:endParaRPr lang="en-US" sz="1350" dirty="0"/>
          </a:p>
        </p:txBody>
      </p:sp>
      <p:sp>
        <p:nvSpPr>
          <p:cNvPr id="9" name="Feasibility card"/>
          <p:cNvSpPr/>
          <p:nvPr/>
        </p:nvSpPr>
        <p:spPr>
          <a:xfrm>
            <a:off x="3346704" y="1965960"/>
            <a:ext cx="2651760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Icon badge"/>
          <p:cNvSpPr/>
          <p:nvPr/>
        </p:nvSpPr>
        <p:spPr>
          <a:xfrm>
            <a:off x="3529584" y="214884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454" y="225171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78224" y="196596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Free datasets and reliable public sources</a:t>
            </a:r>
            <a:endParaRPr lang="en-US" sz="1350" dirty="0"/>
          </a:p>
        </p:txBody>
      </p:sp>
      <p:sp>
        <p:nvSpPr>
          <p:cNvPr id="13" name="Feasibility card"/>
          <p:cNvSpPr/>
          <p:nvPr/>
        </p:nvSpPr>
        <p:spPr>
          <a:xfrm>
            <a:off x="6144768" y="1965960"/>
            <a:ext cx="2651760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" name="Icon badge"/>
          <p:cNvSpPr/>
          <p:nvPr/>
        </p:nvSpPr>
        <p:spPr>
          <a:xfrm>
            <a:off x="6327648" y="214884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5" name="Image 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518" y="2251710"/>
            <a:ext cx="205740" cy="2057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76288" y="196596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Prototype doable by a small team in hackathon time</a:t>
            </a:r>
            <a:endParaRPr lang="en-US" sz="1350" dirty="0"/>
          </a:p>
        </p:txBody>
      </p:sp>
      <p:sp>
        <p:nvSpPr>
          <p:cNvPr id="17" name="Feasibility card"/>
          <p:cNvSpPr/>
          <p:nvPr/>
        </p:nvSpPr>
        <p:spPr>
          <a:xfrm>
            <a:off x="8942832" y="1965960"/>
            <a:ext cx="2651760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Icon badge"/>
          <p:cNvSpPr/>
          <p:nvPr/>
        </p:nvSpPr>
        <p:spPr>
          <a:xfrm>
            <a:off x="9125712" y="214884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9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8582" y="2251710"/>
            <a:ext cx="205740" cy="2057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674352" y="196596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Modular, scalable to mobile and more languages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3429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6B"/>
                </a:solidFill>
              </a:rPr>
              <a:t>CHALLENGES &amp; RISKS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309360" y="3429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</a:rPr>
              <a:t>STRATEGIES TO OVERCOME</a:t>
            </a:r>
            <a:endParaRPr lang="en-US" sz="1200" dirty="0"/>
          </a:p>
        </p:txBody>
      </p:sp>
      <p:sp>
        <p:nvSpPr>
          <p:cNvPr id="23" name="Risk card"/>
          <p:cNvSpPr/>
          <p:nvPr/>
        </p:nvSpPr>
        <p:spPr>
          <a:xfrm>
            <a:off x="548640" y="3794760"/>
            <a:ext cx="4937760" cy="530352"/>
          </a:xfrm>
          <a:prstGeom prst="roundRect">
            <a:avLst>
              <a:gd name="adj" fmla="val 24138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77240" y="379476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Limited time for full development</a:t>
            </a:r>
            <a:endParaRPr lang="en-US" sz="1400" dirty="0"/>
          </a:p>
        </p:txBody>
      </p:sp>
      <p:pic>
        <p:nvPicPr>
          <p:cNvPr id="25" name="Image 4" descr="leads t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3922776"/>
            <a:ext cx="274320" cy="274320"/>
          </a:xfrm>
          <a:prstGeom prst="rect">
            <a:avLst/>
          </a:prstGeom>
        </p:spPr>
      </p:pic>
      <p:sp>
        <p:nvSpPr>
          <p:cNvPr id="26" name="Strategy card"/>
          <p:cNvSpPr/>
          <p:nvPr/>
        </p:nvSpPr>
        <p:spPr>
          <a:xfrm>
            <a:off x="6309360" y="3794760"/>
            <a:ext cx="5330952" cy="530352"/>
          </a:xfrm>
          <a:prstGeom prst="roundRect">
            <a:avLst>
              <a:gd name="adj" fmla="val 2413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537960" y="379476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E"/>
                </a:solidFill>
              </a:rPr>
              <a:t>Focus on core modules first</a:t>
            </a:r>
            <a:endParaRPr lang="en-US" sz="1400" dirty="0"/>
          </a:p>
        </p:txBody>
      </p:sp>
      <p:sp>
        <p:nvSpPr>
          <p:cNvPr id="28" name="Risk card"/>
          <p:cNvSpPr/>
          <p:nvPr/>
        </p:nvSpPr>
        <p:spPr>
          <a:xfrm>
            <a:off x="548640" y="4434840"/>
            <a:ext cx="4937760" cy="530352"/>
          </a:xfrm>
          <a:prstGeom prst="roundRect">
            <a:avLst>
              <a:gd name="adj" fmla="val 24138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777240" y="443484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Quality of data sources</a:t>
            </a:r>
            <a:endParaRPr lang="en-US" sz="1400" dirty="0"/>
          </a:p>
        </p:txBody>
      </p:sp>
      <p:pic>
        <p:nvPicPr>
          <p:cNvPr id="30" name="Image 5" descr="leads t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4562856"/>
            <a:ext cx="274320" cy="274320"/>
          </a:xfrm>
          <a:prstGeom prst="rect">
            <a:avLst/>
          </a:prstGeom>
        </p:spPr>
      </p:pic>
      <p:sp>
        <p:nvSpPr>
          <p:cNvPr id="31" name="Strategy card"/>
          <p:cNvSpPr/>
          <p:nvPr/>
        </p:nvSpPr>
        <p:spPr>
          <a:xfrm>
            <a:off x="6309360" y="4434840"/>
            <a:ext cx="5330952" cy="530352"/>
          </a:xfrm>
          <a:prstGeom prst="roundRect">
            <a:avLst>
              <a:gd name="adj" fmla="val 2413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6537960" y="44348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E"/>
                </a:solidFill>
              </a:rPr>
              <a:t>Use verified, official sources only</a:t>
            </a:r>
            <a:endParaRPr lang="en-US" sz="1400" dirty="0"/>
          </a:p>
        </p:txBody>
      </p:sp>
      <p:sp>
        <p:nvSpPr>
          <p:cNvPr id="33" name="Risk card"/>
          <p:cNvSpPr/>
          <p:nvPr/>
        </p:nvSpPr>
        <p:spPr>
          <a:xfrm>
            <a:off x="548640" y="5074920"/>
            <a:ext cx="4937760" cy="530352"/>
          </a:xfrm>
          <a:prstGeom prst="roundRect">
            <a:avLst>
              <a:gd name="adj" fmla="val 24138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777240" y="507492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Accuracy of AI/ML models</a:t>
            </a:r>
            <a:endParaRPr lang="en-US" sz="1400" dirty="0"/>
          </a:p>
        </p:txBody>
      </p:sp>
      <p:pic>
        <p:nvPicPr>
          <p:cNvPr id="35" name="Image 6" descr="leads t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5202936"/>
            <a:ext cx="274320" cy="274320"/>
          </a:xfrm>
          <a:prstGeom prst="rect">
            <a:avLst/>
          </a:prstGeom>
        </p:spPr>
      </p:pic>
      <p:sp>
        <p:nvSpPr>
          <p:cNvPr id="36" name="Strategy card"/>
          <p:cNvSpPr/>
          <p:nvPr/>
        </p:nvSpPr>
        <p:spPr>
          <a:xfrm>
            <a:off x="6309360" y="5074920"/>
            <a:ext cx="5330952" cy="530352"/>
          </a:xfrm>
          <a:prstGeom prst="roundRect">
            <a:avLst>
              <a:gd name="adj" fmla="val 2413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6537960" y="507492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E"/>
                </a:solidFill>
              </a:rPr>
              <a:t>Test models with sample data</a:t>
            </a:r>
            <a:endParaRPr lang="en-US" sz="1400" dirty="0"/>
          </a:p>
        </p:txBody>
      </p:sp>
      <p:sp>
        <p:nvSpPr>
          <p:cNvPr id="38" name="Risk card"/>
          <p:cNvSpPr/>
          <p:nvPr/>
        </p:nvSpPr>
        <p:spPr>
          <a:xfrm>
            <a:off x="548640" y="5715000"/>
            <a:ext cx="4937760" cy="530352"/>
          </a:xfrm>
          <a:prstGeom prst="roundRect">
            <a:avLst>
              <a:gd name="adj" fmla="val 24138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777240" y="571500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 adoption and trust</a:t>
            </a:r>
            <a:endParaRPr lang="en-US" sz="1400" dirty="0"/>
          </a:p>
        </p:txBody>
      </p:sp>
      <p:pic>
        <p:nvPicPr>
          <p:cNvPr id="40" name="Image 7" descr="leads t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5843016"/>
            <a:ext cx="274320" cy="274320"/>
          </a:xfrm>
          <a:prstGeom prst="rect">
            <a:avLst/>
          </a:prstGeom>
        </p:spPr>
      </p:pic>
      <p:sp>
        <p:nvSpPr>
          <p:cNvPr id="41" name="Strategy card"/>
          <p:cNvSpPr/>
          <p:nvPr/>
        </p:nvSpPr>
        <p:spPr>
          <a:xfrm>
            <a:off x="6309360" y="5715000"/>
            <a:ext cx="5330952" cy="530352"/>
          </a:xfrm>
          <a:prstGeom prst="roundRect">
            <a:avLst>
              <a:gd name="adj" fmla="val 2413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6537960" y="571500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E"/>
                </a:solidFill>
              </a:rPr>
              <a:t>Iterate on user feedback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Business Canvas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C857"/>
                </a:solidFill>
              </a:rPr>
              <a:t>Investing in women builds stronger families and communities</a:t>
            </a:r>
            <a:endParaRPr lang="en-US" sz="1600" dirty="0"/>
          </a:p>
        </p:txBody>
      </p:sp>
      <p:sp>
        <p:nvSpPr>
          <p:cNvPr id="4" name="Mission card"/>
          <p:cNvSpPr/>
          <p:nvPr/>
        </p:nvSpPr>
        <p:spPr>
          <a:xfrm>
            <a:off x="548640" y="1737360"/>
            <a:ext cx="5212080" cy="2194560"/>
          </a:xfrm>
          <a:prstGeom prst="roundRect">
            <a:avLst>
              <a:gd name="adj" fmla="val 583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1F2E"/>
                </a:solidFill>
              </a:rPr>
              <a:t>MISSION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1F2E"/>
                </a:solidFill>
              </a:rPr>
              <a:t>To empower every woman with the right information, resources and support to build a better future.</a:t>
            </a:r>
            <a:endParaRPr lang="en-US" sz="1900" dirty="0"/>
          </a:p>
        </p:txBody>
      </p:sp>
      <p:sp>
        <p:nvSpPr>
          <p:cNvPr id="7" name="Vision card"/>
          <p:cNvSpPr/>
          <p:nvPr/>
        </p:nvSpPr>
        <p:spPr>
          <a:xfrm>
            <a:off x="548640" y="4114800"/>
            <a:ext cx="5212080" cy="2194560"/>
          </a:xfrm>
          <a:prstGeom prst="roundRect">
            <a:avLst>
              <a:gd name="adj" fmla="val 5833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1F2E"/>
                </a:solidFill>
              </a:rPr>
              <a:t>VISION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7091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1F2E"/>
                </a:solidFill>
              </a:rPr>
              <a:t>A world where every woman has equal access to knowledge, financial independence, healthcare and opportunities.</a:t>
            </a:r>
            <a:endParaRPr lang="en-US" sz="1900" dirty="0"/>
          </a:p>
        </p:txBody>
      </p:sp>
      <p:sp>
        <p:nvSpPr>
          <p:cNvPr id="10" name="Market card"/>
          <p:cNvSpPr/>
          <p:nvPr/>
        </p:nvSpPr>
        <p:spPr>
          <a:xfrm>
            <a:off x="6035040" y="1737360"/>
            <a:ext cx="5605272" cy="2194560"/>
          </a:xfrm>
          <a:prstGeom prst="roundRect">
            <a:avLst>
              <a:gd name="adj" fmla="val 5833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Icon badge"/>
          <p:cNvSpPr/>
          <p:nvPr/>
        </p:nvSpPr>
        <p:spPr>
          <a:xfrm>
            <a:off x="6309360" y="1920240"/>
            <a:ext cx="502920" cy="502920"/>
          </a:xfrm>
          <a:prstGeom prst="ellipse">
            <a:avLst/>
          </a:prstGeom>
          <a:solidFill>
            <a:srgbClr val="8B7CF6"/>
          </a:solidFill>
          <a:ln w="12700">
            <a:solidFill>
              <a:srgbClr val="8B7CF6"/>
            </a:solidFill>
            <a:prstDash val="solid"/>
          </a:ln>
        </p:spPr>
      </p:sp>
      <p:pic>
        <p:nvPicPr>
          <p:cNvPr id="12" name="Image 0" descr="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5090" y="2045970"/>
            <a:ext cx="251460" cy="2514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995160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Market &amp; Business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2560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F4F1"/>
                </a:solidFill>
              </a:rPr>
              <a:t>Users: students, professionals, entrepreneurs, homemakers. Existing apps are single-focus; AVALON AI is 6-in-1.</a:t>
            </a:r>
            <a:endParaRPr lang="en-US" sz="1350" dirty="0"/>
          </a:p>
        </p:txBody>
      </p:sp>
      <p:sp>
        <p:nvSpPr>
          <p:cNvPr id="15" name="Bullet dot"/>
          <p:cNvSpPr/>
          <p:nvPr/>
        </p:nvSpPr>
        <p:spPr>
          <a:xfrm>
            <a:off x="6309360" y="3145536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37960" y="309067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NGO and government partnerships</a:t>
            </a:r>
            <a:endParaRPr lang="en-US" sz="1300" dirty="0"/>
          </a:p>
        </p:txBody>
      </p:sp>
      <p:sp>
        <p:nvSpPr>
          <p:cNvPr id="17" name="Bullet dot"/>
          <p:cNvSpPr/>
          <p:nvPr/>
        </p:nvSpPr>
        <p:spPr>
          <a:xfrm>
            <a:off x="6309360" y="3392424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37960" y="333756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CSR funding and grants</a:t>
            </a:r>
            <a:endParaRPr lang="en-US" sz="1300" dirty="0"/>
          </a:p>
        </p:txBody>
      </p:sp>
      <p:sp>
        <p:nvSpPr>
          <p:cNvPr id="19" name="Bullet dot"/>
          <p:cNvSpPr/>
          <p:nvPr/>
        </p:nvSpPr>
        <p:spPr>
          <a:xfrm>
            <a:off x="6309360" y="3639312"/>
            <a:ext cx="109728" cy="10972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37960" y="358444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Premium features (future)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035040" y="4114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</a:rPr>
              <a:t>FINANCIAL PLANNING &amp; REQUIREMENTS</a:t>
            </a:r>
            <a:endParaRPr lang="en-US" sz="1200" dirty="0"/>
          </a:p>
        </p:txBody>
      </p:sp>
      <p:sp>
        <p:nvSpPr>
          <p:cNvPr id="22" name="Stat card"/>
          <p:cNvSpPr/>
          <p:nvPr/>
        </p:nvSpPr>
        <p:spPr>
          <a:xfrm>
            <a:off x="6035040" y="4462272"/>
            <a:ext cx="5605272" cy="685800"/>
          </a:xfrm>
          <a:prstGeom prst="roundRect">
            <a:avLst>
              <a:gd name="adj" fmla="val 18667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09360" y="449884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857"/>
                </a:solidFill>
              </a:rPr>
              <a:t>Rs 50,000 - 1,00,000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6309360" y="488289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C9"/>
                </a:solidFill>
              </a:rPr>
              <a:t>Initial development</a:t>
            </a:r>
            <a:endParaRPr lang="en-US" sz="1200" dirty="0"/>
          </a:p>
        </p:txBody>
      </p:sp>
      <p:sp>
        <p:nvSpPr>
          <p:cNvPr id="25" name="Stat card"/>
          <p:cNvSpPr/>
          <p:nvPr/>
        </p:nvSpPr>
        <p:spPr>
          <a:xfrm>
            <a:off x="6035040" y="5239512"/>
            <a:ext cx="5605272" cy="685800"/>
          </a:xfrm>
          <a:prstGeom prst="roundRect">
            <a:avLst>
              <a:gd name="adj" fmla="val 18667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09360" y="52760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C9F0"/>
                </a:solidFill>
              </a:rPr>
              <a:t>Rs 10,000 - 20,000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6309360" y="56601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C9"/>
                </a:solidFill>
              </a:rPr>
              <a:t>Operating cost: hosting and tools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035040" y="603504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Future revenue   </a:t>
            </a:r>
            <a:pPr indent="0" marL="0">
              <a:buNone/>
            </a:pPr>
            <a:r>
              <a:rPr lang="en-US" sz="1300" dirty="0">
                <a:solidFill>
                  <a:srgbClr val="E6F4F1"/>
                </a:solidFill>
              </a:rPr>
              <a:t>Partnerships, premium features, CSR funding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Impact and Benefits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C857"/>
                </a:solidFill>
              </a:rPr>
              <a:t>More than a platform - a movement for change</a:t>
            </a:r>
            <a:endParaRPr lang="en-US" sz="1600" dirty="0"/>
          </a:p>
        </p:txBody>
      </p:sp>
      <p:sp>
        <p:nvSpPr>
          <p:cNvPr id="4" name="Impact tile"/>
          <p:cNvSpPr/>
          <p:nvPr/>
        </p:nvSpPr>
        <p:spPr>
          <a:xfrm>
            <a:off x="548640" y="1737360"/>
            <a:ext cx="2651760" cy="1554480"/>
          </a:xfrm>
          <a:prstGeom prst="roundRect">
            <a:avLst>
              <a:gd name="adj" fmla="val 8235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5" name="Image 0" descr="Soci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2E"/>
                </a:solidFill>
              </a:rPr>
              <a:t>Social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2E"/>
                </a:solidFill>
              </a:rPr>
              <a:t>Equality and inclusion</a:t>
            </a:r>
            <a:endParaRPr lang="en-US" sz="1300" dirty="0"/>
          </a:p>
        </p:txBody>
      </p:sp>
      <p:sp>
        <p:nvSpPr>
          <p:cNvPr id="8" name="Impact tile"/>
          <p:cNvSpPr/>
          <p:nvPr/>
        </p:nvSpPr>
        <p:spPr>
          <a:xfrm>
            <a:off x="3346704" y="1737360"/>
            <a:ext cx="2651760" cy="1554480"/>
          </a:xfrm>
          <a:prstGeom prst="roundRect">
            <a:avLst>
              <a:gd name="adj" fmla="val 8235"/>
            </a:avLst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pic>
        <p:nvPicPr>
          <p:cNvPr id="9" name="Image 1" descr="Economi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9202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75304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2E"/>
                </a:solidFill>
              </a:rPr>
              <a:t>Economic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3575304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2E"/>
                </a:solidFill>
              </a:rPr>
              <a:t>More income and growth</a:t>
            </a:r>
            <a:endParaRPr lang="en-US" sz="1300" dirty="0"/>
          </a:p>
        </p:txBody>
      </p:sp>
      <p:sp>
        <p:nvSpPr>
          <p:cNvPr id="12" name="Impact tile"/>
          <p:cNvSpPr/>
          <p:nvPr/>
        </p:nvSpPr>
        <p:spPr>
          <a:xfrm>
            <a:off x="6144768" y="1737360"/>
            <a:ext cx="2651760" cy="1554480"/>
          </a:xfrm>
          <a:prstGeom prst="roundRect">
            <a:avLst>
              <a:gd name="adj" fmla="val 823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3" name="Image 2" descr="Environment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9202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373368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2E"/>
                </a:solidFill>
              </a:rPr>
              <a:t>Environmental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373368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2E"/>
                </a:solidFill>
              </a:rPr>
              <a:t>Sustainable communities</a:t>
            </a:r>
            <a:endParaRPr lang="en-US" sz="1300" dirty="0"/>
          </a:p>
        </p:txBody>
      </p:sp>
      <p:sp>
        <p:nvSpPr>
          <p:cNvPr id="16" name="Impact tile"/>
          <p:cNvSpPr/>
          <p:nvPr/>
        </p:nvSpPr>
        <p:spPr>
          <a:xfrm>
            <a:off x="8942832" y="1737360"/>
            <a:ext cx="2651760" cy="1554480"/>
          </a:xfrm>
          <a:prstGeom prst="roundRect">
            <a:avLst>
              <a:gd name="adj" fmla="val 8235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17" name="Image 3" descr="Ment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432" y="19202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71432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2E"/>
                </a:solidFill>
              </a:rPr>
              <a:t>Mental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9171432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2E"/>
                </a:solidFill>
              </a:rPr>
              <a:t>Confidence and well-being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3520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</a:rPr>
              <a:t>POTENTIAL IMPACT ON THE TARGET AUDIENCE</a:t>
            </a:r>
            <a:endParaRPr lang="en-US" sz="1200" dirty="0"/>
          </a:p>
        </p:txBody>
      </p:sp>
      <p:sp>
        <p:nvSpPr>
          <p:cNvPr id="21" name="Impact list"/>
          <p:cNvSpPr/>
          <p:nvPr/>
        </p:nvSpPr>
        <p:spPr>
          <a:xfrm>
            <a:off x="548640" y="3840480"/>
            <a:ext cx="11091672" cy="1920240"/>
          </a:xfrm>
          <a:prstGeom prst="roundRect">
            <a:avLst>
              <a:gd name="adj" fmla="val 6667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2" name="Icon badge"/>
          <p:cNvSpPr/>
          <p:nvPr/>
        </p:nvSpPr>
        <p:spPr>
          <a:xfrm>
            <a:off x="822960" y="4023360"/>
            <a:ext cx="411480" cy="41148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23" name="Image 4" descr="Increases access to education, jobs and skill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4126230"/>
            <a:ext cx="205740" cy="2057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17320" y="4023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Increases access to education, jobs and skills</a:t>
            </a:r>
            <a:endParaRPr lang="en-US" sz="1450" dirty="0"/>
          </a:p>
        </p:txBody>
      </p:sp>
      <p:sp>
        <p:nvSpPr>
          <p:cNvPr id="25" name="Icon badge"/>
          <p:cNvSpPr/>
          <p:nvPr/>
        </p:nvSpPr>
        <p:spPr>
          <a:xfrm>
            <a:off x="822960" y="4590288"/>
            <a:ext cx="411480" cy="41148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pic>
        <p:nvPicPr>
          <p:cNvPr id="26" name="Image 5" descr="Improves financial independenc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30" y="4693158"/>
            <a:ext cx="205740" cy="20574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17320" y="45902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Improves financial independence</a:t>
            </a:r>
            <a:endParaRPr lang="en-US" sz="1450" dirty="0"/>
          </a:p>
        </p:txBody>
      </p:sp>
      <p:sp>
        <p:nvSpPr>
          <p:cNvPr id="28" name="Icon badge"/>
          <p:cNvSpPr/>
          <p:nvPr/>
        </p:nvSpPr>
        <p:spPr>
          <a:xfrm>
            <a:off x="822960" y="5157216"/>
            <a:ext cx="411480" cy="4114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9" name="Image 6" descr="Enhances health awareness and well-bei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30" y="5260086"/>
            <a:ext cx="205740" cy="20574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417320" y="51572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Enhances health awareness and well-being</a:t>
            </a:r>
            <a:endParaRPr lang="en-US" sz="1450" dirty="0"/>
          </a:p>
        </p:txBody>
      </p:sp>
      <p:sp>
        <p:nvSpPr>
          <p:cNvPr id="31" name="Icon badge"/>
          <p:cNvSpPr/>
          <p:nvPr/>
        </p:nvSpPr>
        <p:spPr>
          <a:xfrm>
            <a:off x="6309360" y="4023360"/>
            <a:ext cx="411480" cy="411480"/>
          </a:xfrm>
          <a:prstGeom prst="ellipse">
            <a:avLst/>
          </a:prstGeom>
          <a:solidFill>
            <a:srgbClr val="8B7CF6"/>
          </a:solidFill>
          <a:ln w="12700">
            <a:solidFill>
              <a:srgbClr val="8B7CF6"/>
            </a:solidFill>
            <a:prstDash val="solid"/>
          </a:ln>
        </p:spPr>
      </p:sp>
      <p:pic>
        <p:nvPicPr>
          <p:cNvPr id="32" name="Image 7" descr="Builds legal and digital safety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2230" y="4126230"/>
            <a:ext cx="205740" cy="20574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903720" y="4023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Builds legal and digital safety</a:t>
            </a:r>
            <a:endParaRPr lang="en-US" sz="1450" dirty="0"/>
          </a:p>
        </p:txBody>
      </p:sp>
      <p:sp>
        <p:nvSpPr>
          <p:cNvPr id="34" name="Icon badge"/>
          <p:cNvSpPr/>
          <p:nvPr/>
        </p:nvSpPr>
        <p:spPr>
          <a:xfrm>
            <a:off x="6309360" y="4590288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5" name="Image 8" descr="Connects women to real opportunities and suppor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2230" y="4693158"/>
            <a:ext cx="205740" cy="20574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6903720" y="45902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Connects women to real opportunities and support</a:t>
            </a:r>
            <a:endParaRPr lang="en-US" sz="1450" dirty="0"/>
          </a:p>
        </p:txBody>
      </p:sp>
      <p:sp>
        <p:nvSpPr>
          <p:cNvPr id="37" name="Text 26"/>
          <p:cNvSpPr txBox="1"/>
          <p:nvPr/>
        </p:nvSpPr>
        <p:spPr>
          <a:xfrm>
            <a:off x="6309360" y="5166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C1C9"/>
                </a:solidFill>
              </a:rPr>
              <a:t>Target: students, working women, entrepreneurs, homemakers</a:t>
            </a:r>
            <a:endParaRPr lang="en-US" sz="1250" dirty="0"/>
          </a:p>
        </p:txBody>
      </p:sp>
      <p:sp>
        <p:nvSpPr>
          <p:cNvPr id="38" name="Chain banner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28000"/>
            </a:avLst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9" name="Text 28"/>
          <p:cNvSpPr txBox="1"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2E"/>
                </a:solidFill>
              </a:rPr>
              <a:t>Stronger Women  &gt;  Stronger Families  &gt;  A Stronger Society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Research and 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C857"/>
                </a:solidFill>
              </a:rPr>
              <a:t>Ideas  |  Code  |  Impact</a:t>
            </a:r>
            <a:endParaRPr lang="en-US" sz="1600" dirty="0"/>
          </a:p>
        </p:txBody>
      </p:sp>
      <p:sp>
        <p:nvSpPr>
          <p:cNvPr id="4" name="References card"/>
          <p:cNvSpPr/>
          <p:nvPr/>
        </p:nvSpPr>
        <p:spPr>
          <a:xfrm>
            <a:off x="548640" y="1737360"/>
            <a:ext cx="6309360" cy="4526280"/>
          </a:xfrm>
          <a:prstGeom prst="roundRect">
            <a:avLst>
              <a:gd name="adj" fmla="val 2828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" name="Ref dot"/>
          <p:cNvSpPr/>
          <p:nvPr/>
        </p:nvSpPr>
        <p:spPr>
          <a:xfrm>
            <a:off x="868680" y="2075688"/>
            <a:ext cx="146304" cy="14630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920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F4F1"/>
                </a:solidFill>
              </a:rPr>
              <a:t>UN Women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</a:rPr>
              <a:t>unwomen.org</a:t>
            </a:r>
            <a:endParaRPr lang="en-US" sz="1300" dirty="0"/>
          </a:p>
        </p:txBody>
      </p:sp>
      <p:sp>
        <p:nvSpPr>
          <p:cNvPr id="8" name="Ref dot"/>
          <p:cNvSpPr/>
          <p:nvPr/>
        </p:nvSpPr>
        <p:spPr>
          <a:xfrm>
            <a:off x="868680" y="2660904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5054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F4F1"/>
                </a:solidFill>
              </a:rPr>
              <a:t>Ministry of Women &amp; Child Development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505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</a:rPr>
              <a:t>wcd.nic.in</a:t>
            </a:r>
            <a:endParaRPr lang="en-US" sz="1300" dirty="0"/>
          </a:p>
        </p:txBody>
      </p:sp>
      <p:sp>
        <p:nvSpPr>
          <p:cNvPr id="11" name="Ref dot"/>
          <p:cNvSpPr/>
          <p:nvPr/>
        </p:nvSpPr>
        <p:spPr>
          <a:xfrm>
            <a:off x="868680" y="3246120"/>
            <a:ext cx="146304" cy="146304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0906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F4F1"/>
                </a:solidFill>
              </a:rPr>
              <a:t>Government of India portal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090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</a:rPr>
              <a:t>india.gov.in</a:t>
            </a:r>
            <a:endParaRPr lang="en-US" sz="1300" dirty="0"/>
          </a:p>
        </p:txBody>
      </p:sp>
      <p:sp>
        <p:nvSpPr>
          <p:cNvPr id="14" name="Ref dot"/>
          <p:cNvSpPr/>
          <p:nvPr/>
        </p:nvSpPr>
        <p:spPr>
          <a:xfrm>
            <a:off x="868680" y="3831336"/>
            <a:ext cx="146304" cy="14630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6758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F4F1"/>
                </a:solidFill>
              </a:rPr>
              <a:t>World Health Organization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675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</a:rPr>
              <a:t>who.int</a:t>
            </a:r>
            <a:endParaRPr lang="en-US" sz="1300" dirty="0"/>
          </a:p>
        </p:txBody>
      </p:sp>
      <p:sp>
        <p:nvSpPr>
          <p:cNvPr id="17" name="Ref dot"/>
          <p:cNvSpPr/>
          <p:nvPr/>
        </p:nvSpPr>
        <p:spPr>
          <a:xfrm>
            <a:off x="868680" y="4416552"/>
            <a:ext cx="146304" cy="146304"/>
          </a:xfrm>
          <a:prstGeom prst="ellipse">
            <a:avLst/>
          </a:prstGeom>
          <a:solidFill>
            <a:srgbClr val="8B7CF6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426110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F4F1"/>
                </a:solidFill>
              </a:rPr>
              <a:t>World Bank (gender data)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42611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</a:rPr>
              <a:t>worldbank.org</a:t>
            </a:r>
            <a:endParaRPr lang="en-US" sz="1300" dirty="0"/>
          </a:p>
        </p:txBody>
      </p:sp>
      <p:sp>
        <p:nvSpPr>
          <p:cNvPr id="20" name="Ref dot"/>
          <p:cNvSpPr/>
          <p:nvPr/>
        </p:nvSpPr>
        <p:spPr>
          <a:xfrm>
            <a:off x="868680" y="5001768"/>
            <a:ext cx="146304" cy="14630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4846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F4F1"/>
                </a:solidFill>
              </a:rPr>
              <a:t>Kaggle datasets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4846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</a:rPr>
              <a:t>kaggle.com</a:t>
            </a:r>
            <a:endParaRPr lang="en-US" sz="1300" dirty="0"/>
          </a:p>
        </p:txBody>
      </p:sp>
      <p:sp>
        <p:nvSpPr>
          <p:cNvPr id="23" name="Ref dot"/>
          <p:cNvSpPr/>
          <p:nvPr/>
        </p:nvSpPr>
        <p:spPr>
          <a:xfrm>
            <a:off x="868680" y="5586984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34440" y="54315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F4F1"/>
                </a:solidFill>
              </a:rPr>
              <a:t>Scikit-learn documentation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54315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</a:rPr>
              <a:t>scikit-learn.org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1737360"/>
            <a:ext cx="4325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265176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</a:rPr>
              <a:t>Team QUANTIX  |  DEX26180</a:t>
            </a:r>
            <a:endParaRPr lang="en-US" sz="1600" dirty="0"/>
          </a:p>
        </p:txBody>
      </p:sp>
      <p:sp>
        <p:nvSpPr>
          <p:cNvPr id="28" name="GitHub card"/>
          <p:cNvSpPr/>
          <p:nvPr/>
        </p:nvSpPr>
        <p:spPr>
          <a:xfrm>
            <a:off x="7315200" y="3383280"/>
            <a:ext cx="4325112" cy="2423160"/>
          </a:xfrm>
          <a:prstGeom prst="roundRect">
            <a:avLst>
              <a:gd name="adj" fmla="val 5283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9" name="Icon badge"/>
          <p:cNvSpPr/>
          <p:nvPr/>
        </p:nvSpPr>
        <p:spPr>
          <a:xfrm>
            <a:off x="7589520" y="3639312"/>
            <a:ext cx="685800" cy="6858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30" name="Image 0" descr="GitH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0970" y="3810762"/>
            <a:ext cx="342900" cy="34290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8458200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857"/>
                </a:solidFill>
              </a:rPr>
              <a:t>GITHUB REPOSITORY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8458200" y="4041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F4F1"/>
                </a:solidFill>
              </a:rPr>
              <a:t>Avalon AI source code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589520" y="4800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6EE7D8"/>
                </a:solidFill>
                <a:hlinkClick r:id="rId2" invalidUrl="" action="" tgtFrame="" tooltip="Open the Avalon AI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https://github.com/quantixproject2k26-bit/</a:t>
            </a:r>
            <a:endParaRPr lang="en-US" sz="1400" dirty="0"/>
          </a:p>
          <a:p>
            <a:pPr indent="0" marL="0">
              <a:buNone/>
            </a:pPr>
            <a:r>
              <a:rPr lang="en-US" sz="1400" b="1" u="sng" dirty="0">
                <a:solidFill>
                  <a:srgbClr val="6EE7D8"/>
                </a:solidFill>
                <a:hlinkClick r:id="rId2" invalidUrl="" action="" tgtFrame="" tooltip="Open the Avalon AI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Avalon-AI-.git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valon Midnight">
  <a:themeElements>
    <a:clrScheme name="Avalon Midnight">
      <a:dk1>
        <a:srgbClr val="0B1F2E"/>
      </a:dk1>
      <a:lt1>
        <a:srgbClr val="FFFFFF"/>
      </a:lt1>
      <a:dk2>
        <a:srgbClr val="123B4A"/>
      </a:dk2>
      <a:lt2>
        <a:srgbClr val="E6F4F1"/>
      </a:lt2>
      <a:accent1>
        <a:srgbClr val="14B8A6"/>
      </a:accent1>
      <a:accent2>
        <a:srgbClr val="FF6B6B"/>
      </a:accent2>
      <a:accent3>
        <a:srgbClr val="FFC857"/>
      </a:accent3>
      <a:accent4>
        <a:srgbClr val="4CC9F0"/>
      </a:accent4>
      <a:accent5>
        <a:srgbClr val="8B7CF6"/>
      </a:accent5>
      <a:accent6>
        <a:srgbClr val="0E8F82"/>
      </a:accent6>
      <a:hlink>
        <a:srgbClr val="6EE7D8"/>
      </a:hlink>
      <a:folHlink>
        <a:srgbClr val="B7C9D0"/>
      </a:folHlink>
    </a:clrScheme>
    <a:fontScheme name="Avalon Midnight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AVALON AI - Dexathon 2026</dc:title>
  <dc:subject>PptxGenJS Presentation</dc:subject>
  <dc:creator>Team QUANTIX</dc:creator>
  <cp:lastModifiedBy>Team QUANTIX</cp:lastModifiedBy>
  <cp:revision>1</cp:revision>
  <dcterms:created xsi:type="dcterms:W3CDTF">2026-10-22T06:26:22Z</dcterms:created>
  <dcterms:modified xsi:type="dcterms:W3CDTF">2026-10-22T06:26:22Z</dcterms:modified>
</cp:coreProperties>
</file>